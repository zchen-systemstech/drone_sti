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9" r:id="rId5"/>
    <p:sldId id="31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AA"/>
    <a:srgbClr val="F6E2CC"/>
    <a:srgbClr val="4B3E7B"/>
    <a:srgbClr val="FAD8B3"/>
    <a:srgbClr val="E3CFCF"/>
    <a:srgbClr val="F7E8C1"/>
    <a:srgbClr val="F7F4C1"/>
    <a:srgbClr val="AF9309"/>
    <a:srgbClr val="F9F7D3"/>
    <a:srgbClr val="CEC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1965" autoAdjust="0"/>
  </p:normalViewPr>
  <p:slideViewPr>
    <p:cSldViewPr snapToGrid="0">
      <p:cViewPr varScale="1">
        <p:scale>
          <a:sx n="87" d="100"/>
          <a:sy n="87" d="100"/>
        </p:scale>
        <p:origin x="131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9D791-F326-294A-AEEF-9551BFF890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C2D67-072C-7940-852B-3E979B659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7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C2D67-072C-7940-852B-3E979B6599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1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E485FE6-67F3-BCAA-56DF-FCE6212F2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06291" y="3268360"/>
            <a:ext cx="6887210" cy="2162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8000" b="0" i="0" cap="all" baseline="0">
                <a:solidFill>
                  <a:schemeClr val="bg2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SLIDE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B74B2F6-AAC8-6CED-0316-7C3511CE45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6291" y="5523295"/>
            <a:ext cx="6887210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C2F967-DBE6-B4D7-C891-9C0A9D4597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60" r="32678"/>
          <a:stretch/>
        </p:blipFill>
        <p:spPr>
          <a:xfrm flipH="1">
            <a:off x="-1" y="1046367"/>
            <a:ext cx="12192000" cy="2221992"/>
          </a:xfrm>
          <a:prstGeom prst="rect">
            <a:avLst/>
          </a:prstGeom>
        </p:spPr>
      </p:pic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4E514606-FEAE-B19A-4FE5-978D09320C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04850" y="486666"/>
            <a:ext cx="2715745" cy="10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6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E485FE6-67F3-BCAA-56DF-FCE6212F2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06291" y="3268360"/>
            <a:ext cx="6887210" cy="2162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8000" b="0" i="0" cap="all" baseline="0">
                <a:solidFill>
                  <a:schemeClr val="tx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SLIDE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B74B2F6-AAC8-6CED-0316-7C3511CE45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6291" y="5523295"/>
            <a:ext cx="6887210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8" name="Picture 7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57882B01-57E9-42A0-8E32-F1575E9846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8358" r="808"/>
          <a:stretch/>
        </p:blipFill>
        <p:spPr>
          <a:xfrm rot="10800000" flipH="1">
            <a:off x="0" y="1050558"/>
            <a:ext cx="12192000" cy="2217802"/>
          </a:xfrm>
          <a:prstGeom prst="rect">
            <a:avLst/>
          </a:prstGeom>
        </p:spPr>
      </p:pic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E5C8EEA8-0AF8-5184-C840-3916500EC5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4850" y="486666"/>
            <a:ext cx="2715745" cy="10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298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E485FE6-67F3-BCAA-56DF-FCE6212F2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06291" y="3268360"/>
            <a:ext cx="6887210" cy="2162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8000" b="0" i="0" cap="all" baseline="0">
                <a:solidFill>
                  <a:schemeClr val="tx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SLIDE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B74B2F6-AAC8-6CED-0316-7C3511CE45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6291" y="5523295"/>
            <a:ext cx="6887210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9" name="Picture 8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9A62670B-04FB-5439-B5A0-80319C224F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8358" r="808"/>
          <a:stretch/>
        </p:blipFill>
        <p:spPr>
          <a:xfrm rot="10800000" flipH="1">
            <a:off x="0" y="1050558"/>
            <a:ext cx="12192000" cy="2217802"/>
          </a:xfrm>
          <a:prstGeom prst="rect">
            <a:avLst/>
          </a:prstGeom>
        </p:spPr>
      </p:pic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F54E1112-7B68-5A56-1A71-254E7DE514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4850" y="486666"/>
            <a:ext cx="2715745" cy="10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89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E485FE6-67F3-BCAA-56DF-FCE6212F2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06291" y="3268360"/>
            <a:ext cx="6887210" cy="2162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8000" b="0" i="0" cap="all" baseline="0">
                <a:solidFill>
                  <a:schemeClr val="tx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SLIDE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B74B2F6-AAC8-6CED-0316-7C3511CE45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6291" y="5523295"/>
            <a:ext cx="6887210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2" name="Picture 1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414FB2A5-BD29-A0F1-BF26-262B97B7C5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8358" r="808"/>
          <a:stretch/>
        </p:blipFill>
        <p:spPr>
          <a:xfrm rot="10800000" flipH="1">
            <a:off x="0" y="1050558"/>
            <a:ext cx="12192000" cy="2217802"/>
          </a:xfrm>
          <a:prstGeom prst="rect">
            <a:avLst/>
          </a:prstGeom>
        </p:spPr>
      </p:pic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F0540381-7C7A-DE40-570E-938CDD6F64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4850" y="486666"/>
            <a:ext cx="2715745" cy="10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15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C1D6A00-0ABA-CA1A-86C8-66FCC85140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850" y="3268360"/>
            <a:ext cx="5279768" cy="2162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8000" b="0" i="0" cap="all" baseline="0">
                <a:solidFill>
                  <a:schemeClr val="bg2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SLIDE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F64901B-E37D-E1BD-2F1B-0098BD0BBB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50" y="5523295"/>
            <a:ext cx="5279768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429FB702-8EE2-5290-8792-B29DE883EA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4850" y="485946"/>
            <a:ext cx="2702685" cy="115286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D639F18-046A-82A5-0669-55C6581694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9243" y="485946"/>
            <a:ext cx="5306005" cy="5893350"/>
          </a:xfrm>
          <a:custGeom>
            <a:avLst/>
            <a:gdLst>
              <a:gd name="connsiteX0" fmla="*/ 0 w 5306005"/>
              <a:gd name="connsiteY0" fmla="*/ 0 h 5893350"/>
              <a:gd name="connsiteX1" fmla="*/ 5306005 w 5306005"/>
              <a:gd name="connsiteY1" fmla="*/ 0 h 5893350"/>
              <a:gd name="connsiteX2" fmla="*/ 5306005 w 5306005"/>
              <a:gd name="connsiteY2" fmla="*/ 4966674 h 5893350"/>
              <a:gd name="connsiteX3" fmla="*/ 4380422 w 5306005"/>
              <a:gd name="connsiteY3" fmla="*/ 5893350 h 5893350"/>
              <a:gd name="connsiteX4" fmla="*/ 0 w 5306005"/>
              <a:gd name="connsiteY4" fmla="*/ 5893350 h 589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6005" h="5893350">
                <a:moveTo>
                  <a:pt x="0" y="0"/>
                </a:moveTo>
                <a:lnTo>
                  <a:pt x="5306005" y="0"/>
                </a:lnTo>
                <a:lnTo>
                  <a:pt x="5306005" y="4966674"/>
                </a:lnTo>
                <a:cubicBezTo>
                  <a:pt x="5306005" y="5478114"/>
                  <a:pt x="4891258" y="5893350"/>
                  <a:pt x="4380422" y="5893350"/>
                </a:cubicBezTo>
                <a:lnTo>
                  <a:pt x="0" y="58933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9130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D2B9D575-ED9F-AA45-A687-33FFBB774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850" y="3268360"/>
            <a:ext cx="5279768" cy="2162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8000" b="0" i="0" cap="all" baseline="0">
                <a:solidFill>
                  <a:schemeClr val="tx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SLIDE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5D38878-D463-4583-0A0B-2CE2A5075B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50" y="5523295"/>
            <a:ext cx="5279768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4CCBA679-38CC-BD18-7B55-A68A8E8B66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9243" y="485946"/>
            <a:ext cx="5306005" cy="5893350"/>
          </a:xfrm>
          <a:custGeom>
            <a:avLst/>
            <a:gdLst>
              <a:gd name="connsiteX0" fmla="*/ 0 w 5306005"/>
              <a:gd name="connsiteY0" fmla="*/ 0 h 5893350"/>
              <a:gd name="connsiteX1" fmla="*/ 5306005 w 5306005"/>
              <a:gd name="connsiteY1" fmla="*/ 0 h 5893350"/>
              <a:gd name="connsiteX2" fmla="*/ 5306005 w 5306005"/>
              <a:gd name="connsiteY2" fmla="*/ 4966674 h 5893350"/>
              <a:gd name="connsiteX3" fmla="*/ 4380422 w 5306005"/>
              <a:gd name="connsiteY3" fmla="*/ 5893350 h 5893350"/>
              <a:gd name="connsiteX4" fmla="*/ 0 w 5306005"/>
              <a:gd name="connsiteY4" fmla="*/ 5893350 h 589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6005" h="5893350">
                <a:moveTo>
                  <a:pt x="0" y="0"/>
                </a:moveTo>
                <a:lnTo>
                  <a:pt x="5306005" y="0"/>
                </a:lnTo>
                <a:lnTo>
                  <a:pt x="5306005" y="4966674"/>
                </a:lnTo>
                <a:cubicBezTo>
                  <a:pt x="5306005" y="5478114"/>
                  <a:pt x="4891258" y="5893350"/>
                  <a:pt x="4380422" y="5893350"/>
                </a:cubicBezTo>
                <a:lnTo>
                  <a:pt x="0" y="58933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BB2F4CD0-DBD3-9343-3DFF-59EF0032B4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2817" y="541533"/>
            <a:ext cx="2600030" cy="102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94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D2B9D575-ED9F-AA45-A687-33FFBB774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850" y="3268360"/>
            <a:ext cx="5279768" cy="2162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8000" b="0" i="0" cap="all" baseline="0">
                <a:solidFill>
                  <a:schemeClr val="tx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SLIDE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5D38878-D463-4583-0A0B-2CE2A5075B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50" y="5523295"/>
            <a:ext cx="5279768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4CCBA679-38CC-BD18-7B55-A68A8E8B66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9243" y="485946"/>
            <a:ext cx="5306005" cy="5893350"/>
          </a:xfrm>
          <a:custGeom>
            <a:avLst/>
            <a:gdLst>
              <a:gd name="connsiteX0" fmla="*/ 0 w 5306005"/>
              <a:gd name="connsiteY0" fmla="*/ 0 h 5893350"/>
              <a:gd name="connsiteX1" fmla="*/ 5306005 w 5306005"/>
              <a:gd name="connsiteY1" fmla="*/ 0 h 5893350"/>
              <a:gd name="connsiteX2" fmla="*/ 5306005 w 5306005"/>
              <a:gd name="connsiteY2" fmla="*/ 4966674 h 5893350"/>
              <a:gd name="connsiteX3" fmla="*/ 4380422 w 5306005"/>
              <a:gd name="connsiteY3" fmla="*/ 5893350 h 5893350"/>
              <a:gd name="connsiteX4" fmla="*/ 0 w 5306005"/>
              <a:gd name="connsiteY4" fmla="*/ 5893350 h 589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6005" h="5893350">
                <a:moveTo>
                  <a:pt x="0" y="0"/>
                </a:moveTo>
                <a:lnTo>
                  <a:pt x="5306005" y="0"/>
                </a:lnTo>
                <a:lnTo>
                  <a:pt x="5306005" y="4966674"/>
                </a:lnTo>
                <a:cubicBezTo>
                  <a:pt x="5306005" y="5478114"/>
                  <a:pt x="4891258" y="5893350"/>
                  <a:pt x="4380422" y="5893350"/>
                </a:cubicBezTo>
                <a:lnTo>
                  <a:pt x="0" y="58933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BB2F4CD0-DBD3-9343-3DFF-59EF0032B4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2817" y="541533"/>
            <a:ext cx="2600030" cy="102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98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D2B9D575-ED9F-AA45-A687-33FFBB774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850" y="3268360"/>
            <a:ext cx="5279768" cy="2162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8000" b="0" i="0" cap="all" baseline="0">
                <a:solidFill>
                  <a:schemeClr val="tx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SLIDE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5D38878-D463-4583-0A0B-2CE2A5075B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50" y="5523295"/>
            <a:ext cx="5279768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4CCBA679-38CC-BD18-7B55-A68A8E8B66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9243" y="485946"/>
            <a:ext cx="5306005" cy="5893350"/>
          </a:xfrm>
          <a:custGeom>
            <a:avLst/>
            <a:gdLst>
              <a:gd name="connsiteX0" fmla="*/ 0 w 5306005"/>
              <a:gd name="connsiteY0" fmla="*/ 0 h 5893350"/>
              <a:gd name="connsiteX1" fmla="*/ 5306005 w 5306005"/>
              <a:gd name="connsiteY1" fmla="*/ 0 h 5893350"/>
              <a:gd name="connsiteX2" fmla="*/ 5306005 w 5306005"/>
              <a:gd name="connsiteY2" fmla="*/ 4966674 h 5893350"/>
              <a:gd name="connsiteX3" fmla="*/ 4380422 w 5306005"/>
              <a:gd name="connsiteY3" fmla="*/ 5893350 h 5893350"/>
              <a:gd name="connsiteX4" fmla="*/ 0 w 5306005"/>
              <a:gd name="connsiteY4" fmla="*/ 5893350 h 589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6005" h="5893350">
                <a:moveTo>
                  <a:pt x="0" y="0"/>
                </a:moveTo>
                <a:lnTo>
                  <a:pt x="5306005" y="0"/>
                </a:lnTo>
                <a:lnTo>
                  <a:pt x="5306005" y="4966674"/>
                </a:lnTo>
                <a:cubicBezTo>
                  <a:pt x="5306005" y="5478114"/>
                  <a:pt x="4891258" y="5893350"/>
                  <a:pt x="4380422" y="5893350"/>
                </a:cubicBezTo>
                <a:lnTo>
                  <a:pt x="0" y="58933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BB2F4CD0-DBD3-9343-3DFF-59EF0032B4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2817" y="541533"/>
            <a:ext cx="2600030" cy="102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67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3A2C-7AB5-448B-C493-2C1D9B1B2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7179"/>
            <a:ext cx="10515600" cy="2581575"/>
          </a:xfrm>
          <a:prstGeom prst="rect">
            <a:avLst/>
          </a:prstGeom>
        </p:spPr>
        <p:txBody>
          <a:bodyPr anchor="b"/>
          <a:lstStyle>
            <a:lvl1pPr>
              <a:defRPr sz="6000" cap="all" baseline="0"/>
            </a:lvl1pPr>
          </a:lstStyle>
          <a:p>
            <a:r>
              <a:rPr lang="en-US" dirty="0"/>
              <a:t>CLICK TO EDIT SECTIONAL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B3255-E579-2952-413D-E2721F9201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48754"/>
            <a:ext cx="10515600" cy="1079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bg1"/>
                </a:solidFill>
                <a:latin typeface="Teko Light" pitchFamily="2" charset="0"/>
                <a:cs typeface="Teko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SECTIONAL SUBHEADING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BE7C7-149B-DD99-3B11-FB0AC3CD55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72572" y="431325"/>
            <a:ext cx="1274878" cy="415663"/>
          </a:xfrm>
          <a:prstGeom prst="rect">
            <a:avLst/>
          </a:prstGeom>
        </p:spPr>
      </p:pic>
      <p:pic>
        <p:nvPicPr>
          <p:cNvPr id="8" name="Picture 7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32545091-576A-D21C-580B-0B6682EBC1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278" r="3021"/>
          <a:stretch/>
        </p:blipFill>
        <p:spPr>
          <a:xfrm flipH="1">
            <a:off x="-1" y="4321836"/>
            <a:ext cx="12192000" cy="222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76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9E4C5-00B5-8852-A2C2-BF8380048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62346" y="425190"/>
            <a:ext cx="1285104" cy="41899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3A8A016-00D1-B276-639D-79809698D6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7179"/>
            <a:ext cx="10515600" cy="2581575"/>
          </a:xfrm>
          <a:prstGeom prst="rect">
            <a:avLst/>
          </a:prstGeom>
        </p:spPr>
        <p:txBody>
          <a:bodyPr anchor="b"/>
          <a:lstStyle>
            <a:lvl1pPr>
              <a:defRPr sz="6000" cap="all" baseline="0"/>
            </a:lvl1pPr>
          </a:lstStyle>
          <a:p>
            <a:r>
              <a:rPr lang="en-US" dirty="0"/>
              <a:t>CLICK TO EDIT SECTIONAL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8AAD8F3-F114-123A-73C3-8405FE315B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48754"/>
            <a:ext cx="10515600" cy="1079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SECTIONAL SUBHEADING TEXT STYLES</a:t>
            </a:r>
          </a:p>
        </p:txBody>
      </p:sp>
      <p:pic>
        <p:nvPicPr>
          <p:cNvPr id="2" name="Picture 1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C62001D7-303E-421B-B763-3A6FE6EDA0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89" r="28178"/>
          <a:stretch/>
        </p:blipFill>
        <p:spPr>
          <a:xfrm rot="10800000" flipH="1">
            <a:off x="0" y="4395641"/>
            <a:ext cx="12192000" cy="221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78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9E4C5-00B5-8852-A2C2-BF8380048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62346" y="425190"/>
            <a:ext cx="1285104" cy="41899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3A8A016-00D1-B276-639D-79809698D6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7179"/>
            <a:ext cx="10515600" cy="2581575"/>
          </a:xfrm>
          <a:prstGeom prst="rect">
            <a:avLst/>
          </a:prstGeom>
        </p:spPr>
        <p:txBody>
          <a:bodyPr anchor="b"/>
          <a:lstStyle>
            <a:lvl1pPr>
              <a:defRPr sz="6000" cap="all" baseline="0"/>
            </a:lvl1pPr>
          </a:lstStyle>
          <a:p>
            <a:r>
              <a:rPr lang="en-US" dirty="0"/>
              <a:t>CLICK TO EDIT SECTIONAL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8AAD8F3-F114-123A-73C3-8405FE315B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48754"/>
            <a:ext cx="10515600" cy="1079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SECTIONAL SUBHEADING TEXT STYLES</a:t>
            </a:r>
          </a:p>
        </p:txBody>
      </p:sp>
      <p:pic>
        <p:nvPicPr>
          <p:cNvPr id="2" name="Picture 1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41F3FFCA-026A-CFDF-8EFD-97E036B77B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89" r="28178"/>
          <a:stretch/>
        </p:blipFill>
        <p:spPr>
          <a:xfrm rot="10800000" flipH="1">
            <a:off x="0" y="4395641"/>
            <a:ext cx="12192000" cy="221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44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3A2C-7AB5-448B-C493-2C1D9B1B2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7179"/>
            <a:ext cx="10515600" cy="2581575"/>
          </a:xfrm>
          <a:prstGeom prst="rect">
            <a:avLst/>
          </a:prstGeom>
        </p:spPr>
        <p:txBody>
          <a:bodyPr anchor="b"/>
          <a:lstStyle>
            <a:lvl1pPr>
              <a:defRPr sz="6000" cap="all" baseline="0"/>
            </a:lvl1pPr>
          </a:lstStyle>
          <a:p>
            <a:r>
              <a:rPr lang="en-US" dirty="0"/>
              <a:t>CLICK TO EDIT SECTIONAL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B3255-E579-2952-413D-E2721F9201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48754"/>
            <a:ext cx="10515600" cy="1079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SECTIONAL SUBHEADING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A4708-C293-39A8-A847-9FB5F8FB2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62346" y="425190"/>
            <a:ext cx="1285104" cy="418997"/>
          </a:xfrm>
          <a:prstGeom prst="rect">
            <a:avLst/>
          </a:prstGeom>
        </p:spPr>
      </p:pic>
      <p:pic>
        <p:nvPicPr>
          <p:cNvPr id="4" name="Picture 3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DED89689-2B33-C6C7-D937-DFCC896EE6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89" r="28178"/>
          <a:stretch/>
        </p:blipFill>
        <p:spPr>
          <a:xfrm rot="10800000" flipH="1">
            <a:off x="0" y="4395641"/>
            <a:ext cx="12192000" cy="221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74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5B1E01-83F9-16D6-C969-F2E9E1CBF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5125"/>
            <a:ext cx="8395742" cy="1325563"/>
          </a:xfrm>
          <a:prstGeom prst="rect">
            <a:avLst/>
          </a:prstGeo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E1AC5A-7BC7-3324-1F63-768116560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839574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26E10-2B5E-011C-7E57-73BA78613C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200" y="6304456"/>
            <a:ext cx="1285104" cy="418997"/>
          </a:xfrm>
          <a:prstGeom prst="rect">
            <a:avLst/>
          </a:prstGeom>
        </p:spPr>
      </p:pic>
      <p:pic>
        <p:nvPicPr>
          <p:cNvPr id="9" name="Picture 8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5EE21E4C-88FF-3820-1D96-815DBADD79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4507" r="14323"/>
          <a:stretch/>
        </p:blipFill>
        <p:spPr>
          <a:xfrm rot="5400000">
            <a:off x="7455233" y="2318006"/>
            <a:ext cx="6858002" cy="222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80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0A4F-0EA3-5BCB-30E0-4828EAD79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8" y="365125"/>
            <a:ext cx="10509251" cy="1325563"/>
          </a:xfrm>
          <a:prstGeom prst="rect">
            <a:avLst/>
          </a:prstGeo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5B8B0-79C9-052E-099F-8EE8F284B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49843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3A0484-D5C7-1FDD-2FD6-ACE2513DAE3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69464" y="1825625"/>
            <a:ext cx="4977986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8DDF5D-0E29-6BC0-8212-DBCA72129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200" y="6304456"/>
            <a:ext cx="1285104" cy="4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96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28C74D-66B2-4BF7-E0C5-B896035C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5125"/>
            <a:ext cx="10509250" cy="1325563"/>
          </a:xfrm>
          <a:prstGeom prst="rect">
            <a:avLst/>
          </a:prstGeo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AE7900-B7E3-B32E-6CDF-597FC85A1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1050925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673BA2-3513-39D8-2459-175E2A683E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200" y="6304456"/>
            <a:ext cx="1285104" cy="4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25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13C754-44B0-A61D-38B3-918AB9DBB8D8}"/>
              </a:ext>
            </a:extLst>
          </p:cNvPr>
          <p:cNvSpPr/>
          <p:nvPr userDrawn="1"/>
        </p:nvSpPr>
        <p:spPr>
          <a:xfrm>
            <a:off x="6820930" y="0"/>
            <a:ext cx="537107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E4A5EA5-F0EB-CC89-00FF-035F74A3CE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838" y="298397"/>
            <a:ext cx="4729254" cy="6215557"/>
          </a:xfrm>
          <a:custGeom>
            <a:avLst/>
            <a:gdLst>
              <a:gd name="connsiteX0" fmla="*/ 824974 w 4729254"/>
              <a:gd name="connsiteY0" fmla="*/ 0 h 5252756"/>
              <a:gd name="connsiteX1" fmla="*/ 4729254 w 4729254"/>
              <a:gd name="connsiteY1" fmla="*/ 0 h 5252756"/>
              <a:gd name="connsiteX2" fmla="*/ 4729254 w 4729254"/>
              <a:gd name="connsiteY2" fmla="*/ 4426808 h 5252756"/>
              <a:gd name="connsiteX3" fmla="*/ 3904280 w 4729254"/>
              <a:gd name="connsiteY3" fmla="*/ 5252756 h 5252756"/>
              <a:gd name="connsiteX4" fmla="*/ 0 w 4729254"/>
              <a:gd name="connsiteY4" fmla="*/ 5252756 h 5252756"/>
              <a:gd name="connsiteX5" fmla="*/ 0 w 4729254"/>
              <a:gd name="connsiteY5" fmla="*/ 825948 h 5252756"/>
              <a:gd name="connsiteX6" fmla="*/ 824974 w 4729254"/>
              <a:gd name="connsiteY6" fmla="*/ 0 h 525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29254" h="5252756">
                <a:moveTo>
                  <a:pt x="824974" y="0"/>
                </a:moveTo>
                <a:lnTo>
                  <a:pt x="4729254" y="0"/>
                </a:lnTo>
                <a:lnTo>
                  <a:pt x="4729254" y="4426808"/>
                </a:lnTo>
                <a:cubicBezTo>
                  <a:pt x="4729254" y="4882655"/>
                  <a:pt x="4359589" y="5252756"/>
                  <a:pt x="3904280" y="5252756"/>
                </a:cubicBezTo>
                <a:lnTo>
                  <a:pt x="0" y="5252756"/>
                </a:lnTo>
                <a:lnTo>
                  <a:pt x="0" y="825948"/>
                </a:lnTo>
                <a:cubicBezTo>
                  <a:pt x="0" y="370101"/>
                  <a:pt x="369665" y="0"/>
                  <a:pt x="8249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86BF47-3F89-2E1C-CB63-293997E84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500816" cy="1325563"/>
          </a:xfrm>
          <a:prstGeom prst="rect">
            <a:avLst/>
          </a:prstGeo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F6E20DC-97F8-02DB-587E-5DC6EC48B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00816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2F27EC-3031-A782-B0DE-EB3198B49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200" y="6304456"/>
            <a:ext cx="1285104" cy="4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29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13C754-44B0-A61D-38B3-918AB9DBB8D8}"/>
              </a:ext>
            </a:extLst>
          </p:cNvPr>
          <p:cNvSpPr/>
          <p:nvPr userDrawn="1"/>
        </p:nvSpPr>
        <p:spPr>
          <a:xfrm>
            <a:off x="6820930" y="0"/>
            <a:ext cx="537107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E4A5EA5-F0EB-CC89-00FF-035F74A3CE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838" y="298397"/>
            <a:ext cx="4729254" cy="6215557"/>
          </a:xfrm>
          <a:custGeom>
            <a:avLst/>
            <a:gdLst>
              <a:gd name="connsiteX0" fmla="*/ 824974 w 4729254"/>
              <a:gd name="connsiteY0" fmla="*/ 0 h 5252756"/>
              <a:gd name="connsiteX1" fmla="*/ 4729254 w 4729254"/>
              <a:gd name="connsiteY1" fmla="*/ 0 h 5252756"/>
              <a:gd name="connsiteX2" fmla="*/ 4729254 w 4729254"/>
              <a:gd name="connsiteY2" fmla="*/ 4426808 h 5252756"/>
              <a:gd name="connsiteX3" fmla="*/ 3904280 w 4729254"/>
              <a:gd name="connsiteY3" fmla="*/ 5252756 h 5252756"/>
              <a:gd name="connsiteX4" fmla="*/ 0 w 4729254"/>
              <a:gd name="connsiteY4" fmla="*/ 5252756 h 5252756"/>
              <a:gd name="connsiteX5" fmla="*/ 0 w 4729254"/>
              <a:gd name="connsiteY5" fmla="*/ 825948 h 5252756"/>
              <a:gd name="connsiteX6" fmla="*/ 824974 w 4729254"/>
              <a:gd name="connsiteY6" fmla="*/ 0 h 525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29254" h="5252756">
                <a:moveTo>
                  <a:pt x="824974" y="0"/>
                </a:moveTo>
                <a:lnTo>
                  <a:pt x="4729254" y="0"/>
                </a:lnTo>
                <a:lnTo>
                  <a:pt x="4729254" y="4426808"/>
                </a:lnTo>
                <a:cubicBezTo>
                  <a:pt x="4729254" y="4882655"/>
                  <a:pt x="4359589" y="5252756"/>
                  <a:pt x="3904280" y="5252756"/>
                </a:cubicBezTo>
                <a:lnTo>
                  <a:pt x="0" y="5252756"/>
                </a:lnTo>
                <a:lnTo>
                  <a:pt x="0" y="825948"/>
                </a:lnTo>
                <a:cubicBezTo>
                  <a:pt x="0" y="370101"/>
                  <a:pt x="369665" y="0"/>
                  <a:pt x="8249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86BF47-3F89-2E1C-CB63-293997E84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500816" cy="1325563"/>
          </a:xfrm>
          <a:prstGeom prst="rect">
            <a:avLst/>
          </a:prstGeo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F6E20DC-97F8-02DB-587E-5DC6EC48B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00816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2F27EC-3031-A782-B0DE-EB3198B49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200" y="6304456"/>
            <a:ext cx="1285104" cy="4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6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13C754-44B0-A61D-38B3-918AB9DBB8D8}"/>
              </a:ext>
            </a:extLst>
          </p:cNvPr>
          <p:cNvSpPr/>
          <p:nvPr userDrawn="1"/>
        </p:nvSpPr>
        <p:spPr>
          <a:xfrm>
            <a:off x="6820930" y="0"/>
            <a:ext cx="537107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E4A5EA5-F0EB-CC89-00FF-035F74A3CE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838" y="298397"/>
            <a:ext cx="4729254" cy="6215557"/>
          </a:xfrm>
          <a:custGeom>
            <a:avLst/>
            <a:gdLst>
              <a:gd name="connsiteX0" fmla="*/ 824974 w 4729254"/>
              <a:gd name="connsiteY0" fmla="*/ 0 h 5252756"/>
              <a:gd name="connsiteX1" fmla="*/ 4729254 w 4729254"/>
              <a:gd name="connsiteY1" fmla="*/ 0 h 5252756"/>
              <a:gd name="connsiteX2" fmla="*/ 4729254 w 4729254"/>
              <a:gd name="connsiteY2" fmla="*/ 4426808 h 5252756"/>
              <a:gd name="connsiteX3" fmla="*/ 3904280 w 4729254"/>
              <a:gd name="connsiteY3" fmla="*/ 5252756 h 5252756"/>
              <a:gd name="connsiteX4" fmla="*/ 0 w 4729254"/>
              <a:gd name="connsiteY4" fmla="*/ 5252756 h 5252756"/>
              <a:gd name="connsiteX5" fmla="*/ 0 w 4729254"/>
              <a:gd name="connsiteY5" fmla="*/ 825948 h 5252756"/>
              <a:gd name="connsiteX6" fmla="*/ 824974 w 4729254"/>
              <a:gd name="connsiteY6" fmla="*/ 0 h 525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29254" h="5252756">
                <a:moveTo>
                  <a:pt x="824974" y="0"/>
                </a:moveTo>
                <a:lnTo>
                  <a:pt x="4729254" y="0"/>
                </a:lnTo>
                <a:lnTo>
                  <a:pt x="4729254" y="4426808"/>
                </a:lnTo>
                <a:cubicBezTo>
                  <a:pt x="4729254" y="4882655"/>
                  <a:pt x="4359589" y="5252756"/>
                  <a:pt x="3904280" y="5252756"/>
                </a:cubicBezTo>
                <a:lnTo>
                  <a:pt x="0" y="5252756"/>
                </a:lnTo>
                <a:lnTo>
                  <a:pt x="0" y="825948"/>
                </a:lnTo>
                <a:cubicBezTo>
                  <a:pt x="0" y="370101"/>
                  <a:pt x="369665" y="0"/>
                  <a:pt x="8249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86BF47-3F89-2E1C-CB63-293997E84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500816" cy="1325563"/>
          </a:xfrm>
          <a:prstGeom prst="rect">
            <a:avLst/>
          </a:prstGeo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F6E20DC-97F8-02DB-587E-5DC6EC48B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00816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2F27EC-3031-A782-B0DE-EB3198B49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200" y="6304456"/>
            <a:ext cx="1285104" cy="4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24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E6543A-ACC4-26F0-4E76-B31553657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73058"/>
            <a:ext cx="4811504" cy="736018"/>
          </a:xfrm>
          <a:prstGeom prst="rect">
            <a:avLst/>
          </a:prstGeom>
        </p:spPr>
        <p:txBody>
          <a:bodyPr/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42109A-7273-D614-343D-2F6018761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9481" y="673058"/>
            <a:ext cx="5807777" cy="50234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9CD89F-5BD5-6BA2-6944-41FB483839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5400" y="6117706"/>
            <a:ext cx="1424676" cy="464503"/>
          </a:xfrm>
          <a:prstGeom prst="rect">
            <a:avLst/>
          </a:prstGeom>
        </p:spPr>
      </p:pic>
      <p:sp>
        <p:nvSpPr>
          <p:cNvPr id="12" name="Picture Placeholder 22">
            <a:extLst>
              <a:ext uri="{FF2B5EF4-FFF2-40B4-BE49-F238E27FC236}">
                <a16:creationId xmlns:a16="http://schemas.microsoft.com/office/drawing/2014/main" id="{67193EE5-2BB3-40CF-EA80-7420E20CB9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612" y="2428407"/>
            <a:ext cx="4814680" cy="3272067"/>
          </a:xfrm>
          <a:custGeom>
            <a:avLst/>
            <a:gdLst>
              <a:gd name="connsiteX0" fmla="*/ 0 w 4589947"/>
              <a:gd name="connsiteY0" fmla="*/ 0 h 2771493"/>
              <a:gd name="connsiteX1" fmla="*/ 4589947 w 4589947"/>
              <a:gd name="connsiteY1" fmla="*/ 0 h 2771493"/>
              <a:gd name="connsiteX2" fmla="*/ 4589947 w 4589947"/>
              <a:gd name="connsiteY2" fmla="*/ 2035315 h 2771493"/>
              <a:gd name="connsiteX3" fmla="*/ 3852558 w 4589947"/>
              <a:gd name="connsiteY3" fmla="*/ 2771493 h 2771493"/>
              <a:gd name="connsiteX4" fmla="*/ 0 w 4589947"/>
              <a:gd name="connsiteY4" fmla="*/ 2771493 h 277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9947" h="2771493">
                <a:moveTo>
                  <a:pt x="0" y="0"/>
                </a:moveTo>
                <a:lnTo>
                  <a:pt x="4589947" y="0"/>
                </a:lnTo>
                <a:lnTo>
                  <a:pt x="4589947" y="2035315"/>
                </a:lnTo>
                <a:cubicBezTo>
                  <a:pt x="4589947" y="2441617"/>
                  <a:pt x="4259529" y="2771493"/>
                  <a:pt x="3852558" y="2771493"/>
                </a:cubicBezTo>
                <a:lnTo>
                  <a:pt x="0" y="27714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6B3E8B6-5B85-62DA-DD3D-3B7C47BA2C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6612" y="1485746"/>
            <a:ext cx="4814680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tx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66296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E6543A-ACC4-26F0-4E76-B31553657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73058"/>
            <a:ext cx="4811504" cy="736018"/>
          </a:xfrm>
          <a:prstGeom prst="rect">
            <a:avLst/>
          </a:prstGeom>
        </p:spPr>
        <p:txBody>
          <a:bodyPr/>
          <a:lstStyle>
            <a:lvl1pPr>
              <a:defRPr sz="48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42109A-7273-D614-343D-2F6018761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9481" y="673058"/>
            <a:ext cx="5807777" cy="5023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22">
            <a:extLst>
              <a:ext uri="{FF2B5EF4-FFF2-40B4-BE49-F238E27FC236}">
                <a16:creationId xmlns:a16="http://schemas.microsoft.com/office/drawing/2014/main" id="{67193EE5-2BB3-40CF-EA80-7420E20CB9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612" y="2428407"/>
            <a:ext cx="4814680" cy="3272067"/>
          </a:xfrm>
          <a:custGeom>
            <a:avLst/>
            <a:gdLst>
              <a:gd name="connsiteX0" fmla="*/ 0 w 4589947"/>
              <a:gd name="connsiteY0" fmla="*/ 0 h 2771493"/>
              <a:gd name="connsiteX1" fmla="*/ 4589947 w 4589947"/>
              <a:gd name="connsiteY1" fmla="*/ 0 h 2771493"/>
              <a:gd name="connsiteX2" fmla="*/ 4589947 w 4589947"/>
              <a:gd name="connsiteY2" fmla="*/ 2035315 h 2771493"/>
              <a:gd name="connsiteX3" fmla="*/ 3852558 w 4589947"/>
              <a:gd name="connsiteY3" fmla="*/ 2771493 h 2771493"/>
              <a:gd name="connsiteX4" fmla="*/ 0 w 4589947"/>
              <a:gd name="connsiteY4" fmla="*/ 2771493 h 277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9947" h="2771493">
                <a:moveTo>
                  <a:pt x="0" y="0"/>
                </a:moveTo>
                <a:lnTo>
                  <a:pt x="4589947" y="0"/>
                </a:lnTo>
                <a:lnTo>
                  <a:pt x="4589947" y="2035315"/>
                </a:lnTo>
                <a:cubicBezTo>
                  <a:pt x="4589947" y="2441617"/>
                  <a:pt x="4259529" y="2771493"/>
                  <a:pt x="3852558" y="2771493"/>
                </a:cubicBezTo>
                <a:lnTo>
                  <a:pt x="0" y="27714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6B3E8B6-5B85-62DA-DD3D-3B7C47BA2C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6612" y="1485746"/>
            <a:ext cx="4814680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86DF80-6CBA-9204-D961-64AFF9331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6612" y="6089005"/>
            <a:ext cx="1285104" cy="4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56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E6543A-ACC4-26F0-4E76-B31553657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73058"/>
            <a:ext cx="4811504" cy="736018"/>
          </a:xfrm>
          <a:prstGeom prst="rect">
            <a:avLst/>
          </a:prstGeom>
        </p:spPr>
        <p:txBody>
          <a:bodyPr/>
          <a:lstStyle>
            <a:lvl1pPr>
              <a:defRPr sz="48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42109A-7273-D614-343D-2F6018761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9481" y="673058"/>
            <a:ext cx="5807777" cy="5023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22">
            <a:extLst>
              <a:ext uri="{FF2B5EF4-FFF2-40B4-BE49-F238E27FC236}">
                <a16:creationId xmlns:a16="http://schemas.microsoft.com/office/drawing/2014/main" id="{67193EE5-2BB3-40CF-EA80-7420E20CB9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612" y="2428407"/>
            <a:ext cx="4814680" cy="3272067"/>
          </a:xfrm>
          <a:custGeom>
            <a:avLst/>
            <a:gdLst>
              <a:gd name="connsiteX0" fmla="*/ 0 w 4589947"/>
              <a:gd name="connsiteY0" fmla="*/ 0 h 2771493"/>
              <a:gd name="connsiteX1" fmla="*/ 4589947 w 4589947"/>
              <a:gd name="connsiteY1" fmla="*/ 0 h 2771493"/>
              <a:gd name="connsiteX2" fmla="*/ 4589947 w 4589947"/>
              <a:gd name="connsiteY2" fmla="*/ 2035315 h 2771493"/>
              <a:gd name="connsiteX3" fmla="*/ 3852558 w 4589947"/>
              <a:gd name="connsiteY3" fmla="*/ 2771493 h 2771493"/>
              <a:gd name="connsiteX4" fmla="*/ 0 w 4589947"/>
              <a:gd name="connsiteY4" fmla="*/ 2771493 h 277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9947" h="2771493">
                <a:moveTo>
                  <a:pt x="0" y="0"/>
                </a:moveTo>
                <a:lnTo>
                  <a:pt x="4589947" y="0"/>
                </a:lnTo>
                <a:lnTo>
                  <a:pt x="4589947" y="2035315"/>
                </a:lnTo>
                <a:cubicBezTo>
                  <a:pt x="4589947" y="2441617"/>
                  <a:pt x="4259529" y="2771493"/>
                  <a:pt x="3852558" y="2771493"/>
                </a:cubicBezTo>
                <a:lnTo>
                  <a:pt x="0" y="27714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6B3E8B6-5B85-62DA-DD3D-3B7C47BA2C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6612" y="1485746"/>
            <a:ext cx="4814680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86DF80-6CBA-9204-D961-64AFF9331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6612" y="6089005"/>
            <a:ext cx="1285104" cy="4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90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E6543A-ACC4-26F0-4E76-B31553657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73058"/>
            <a:ext cx="4811504" cy="736018"/>
          </a:xfrm>
          <a:prstGeom prst="rect">
            <a:avLst/>
          </a:prstGeom>
        </p:spPr>
        <p:txBody>
          <a:bodyPr/>
          <a:lstStyle>
            <a:lvl1pPr>
              <a:defRPr sz="48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42109A-7273-D614-343D-2F6018761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9481" y="673058"/>
            <a:ext cx="5807777" cy="5023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22">
            <a:extLst>
              <a:ext uri="{FF2B5EF4-FFF2-40B4-BE49-F238E27FC236}">
                <a16:creationId xmlns:a16="http://schemas.microsoft.com/office/drawing/2014/main" id="{67193EE5-2BB3-40CF-EA80-7420E20CB9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612" y="2428407"/>
            <a:ext cx="4814680" cy="3272067"/>
          </a:xfrm>
          <a:custGeom>
            <a:avLst/>
            <a:gdLst>
              <a:gd name="connsiteX0" fmla="*/ 0 w 4589947"/>
              <a:gd name="connsiteY0" fmla="*/ 0 h 2771493"/>
              <a:gd name="connsiteX1" fmla="*/ 4589947 w 4589947"/>
              <a:gd name="connsiteY1" fmla="*/ 0 h 2771493"/>
              <a:gd name="connsiteX2" fmla="*/ 4589947 w 4589947"/>
              <a:gd name="connsiteY2" fmla="*/ 2035315 h 2771493"/>
              <a:gd name="connsiteX3" fmla="*/ 3852558 w 4589947"/>
              <a:gd name="connsiteY3" fmla="*/ 2771493 h 2771493"/>
              <a:gd name="connsiteX4" fmla="*/ 0 w 4589947"/>
              <a:gd name="connsiteY4" fmla="*/ 2771493 h 277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9947" h="2771493">
                <a:moveTo>
                  <a:pt x="0" y="0"/>
                </a:moveTo>
                <a:lnTo>
                  <a:pt x="4589947" y="0"/>
                </a:lnTo>
                <a:lnTo>
                  <a:pt x="4589947" y="2035315"/>
                </a:lnTo>
                <a:cubicBezTo>
                  <a:pt x="4589947" y="2441617"/>
                  <a:pt x="4259529" y="2771493"/>
                  <a:pt x="3852558" y="2771493"/>
                </a:cubicBezTo>
                <a:lnTo>
                  <a:pt x="0" y="27714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6B3E8B6-5B85-62DA-DD3D-3B7C47BA2C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6612" y="1485746"/>
            <a:ext cx="4814680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cap="all" baseline="0">
                <a:solidFill>
                  <a:schemeClr val="accent1"/>
                </a:solidFill>
                <a:latin typeface="Teko Light" pitchFamily="2" charset="0"/>
                <a:cs typeface="Teko Light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86DF80-6CBA-9204-D961-64AFF9331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6612" y="6089005"/>
            <a:ext cx="1285104" cy="41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51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45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3" r:id="rId2"/>
    <p:sldLayoutId id="2147483685" r:id="rId3"/>
    <p:sldLayoutId id="2147483682" r:id="rId4"/>
    <p:sldLayoutId id="2147483649" r:id="rId5"/>
    <p:sldLayoutId id="2147483686" r:id="rId6"/>
    <p:sldLayoutId id="2147483684" r:id="rId7"/>
    <p:sldLayoutId id="2147483660" r:id="rId8"/>
    <p:sldLayoutId id="2147483695" r:id="rId9"/>
    <p:sldLayoutId id="2147483651" r:id="rId10"/>
    <p:sldLayoutId id="2147483687" r:id="rId11"/>
    <p:sldLayoutId id="2147483688" r:id="rId12"/>
    <p:sldLayoutId id="2147483663" r:id="rId13"/>
    <p:sldLayoutId id="2147483689" r:id="rId14"/>
    <p:sldLayoutId id="2147483690" r:id="rId15"/>
    <p:sldLayoutId id="2147483669" r:id="rId16"/>
    <p:sldLayoutId id="2147483691" r:id="rId17"/>
    <p:sldLayoutId id="2147483692" r:id="rId18"/>
    <p:sldLayoutId id="2147483653" r:id="rId19"/>
    <p:sldLayoutId id="2147483694" r:id="rId20"/>
    <p:sldLayoutId id="2147483693" r:id="rId21"/>
    <p:sldLayoutId id="2147483696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i="0" kern="1200">
          <a:solidFill>
            <a:schemeClr val="tx1"/>
          </a:solidFill>
          <a:latin typeface="Teko Light" pitchFamily="2" charset="0"/>
          <a:ea typeface="+mj-ea"/>
          <a:cs typeface="Teko Light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1CDE53-E53F-F8EA-6BB4-39C7CEC81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6968" y="2549371"/>
            <a:ext cx="8367822" cy="28896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Drone Development RoadMap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FF46F-5529-F31B-FCFF-0671D43E3C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5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09B2-493B-4AA1-08C6-CC9D1D53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37DBA38-6151-A50D-96F5-4FEED9155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529875"/>
              </p:ext>
            </p:extLst>
          </p:nvPr>
        </p:nvGraphicFramePr>
        <p:xfrm>
          <a:off x="84841" y="65987"/>
          <a:ext cx="1439569" cy="6660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69">
                  <a:extLst>
                    <a:ext uri="{9D8B030D-6E8A-4147-A177-3AD203B41FA5}">
                      <a16:colId xmlns:a16="http://schemas.microsoft.com/office/drawing/2014/main" val="2953887434"/>
                    </a:ext>
                  </a:extLst>
                </a:gridCol>
              </a:tblGrid>
              <a:tr h="1523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679145"/>
                  </a:ext>
                </a:extLst>
              </a:tr>
              <a:tr h="77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User Guide &amp;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Documentation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56110"/>
                  </a:ext>
                </a:extLst>
              </a:tr>
              <a:tr h="77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State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Estimation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51438"/>
                  </a:ext>
                </a:extLst>
              </a:tr>
              <a:tr h="77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Modeling &amp; Sim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Development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090978"/>
                  </a:ext>
                </a:extLst>
              </a:tr>
              <a:tr h="77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Generic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Framework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627609"/>
                  </a:ext>
                </a:extLst>
              </a:tr>
              <a:tr h="77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Flying/Handling Qualities Evaluations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845979"/>
                  </a:ext>
                </a:extLst>
              </a:tr>
              <a:tr h="77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CLAWs &amp;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Autonomy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147273"/>
                  </a:ext>
                </a:extLst>
              </a:tr>
              <a:tr h="77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Digital Twin &amp;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MFA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574729"/>
                  </a:ext>
                </a:extLst>
              </a:tr>
              <a:tr h="775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Robustness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 Studies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897725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7C684D6-2428-53C4-E566-DCF4171A2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596971"/>
              </p:ext>
            </p:extLst>
          </p:nvPr>
        </p:nvGraphicFramePr>
        <p:xfrm>
          <a:off x="9990606" y="65988"/>
          <a:ext cx="2116549" cy="6660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549">
                  <a:extLst>
                    <a:ext uri="{9D8B030D-6E8A-4147-A177-3AD203B41FA5}">
                      <a16:colId xmlns:a16="http://schemas.microsoft.com/office/drawing/2014/main" val="1153059256"/>
                    </a:ext>
                  </a:extLst>
                </a:gridCol>
              </a:tblGrid>
              <a:tr h="457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Future: Related Lines of Research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679145"/>
                  </a:ext>
                </a:extLst>
              </a:tr>
              <a:tr h="295672">
                <a:tc>
                  <a:txBody>
                    <a:bodyPr/>
                    <a:lstStyle/>
                    <a:p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358903"/>
                  </a:ext>
                </a:extLst>
              </a:tr>
              <a:tr h="29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51438"/>
                  </a:ext>
                </a:extLst>
              </a:tr>
              <a:tr h="492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Update/validate model based on sys ID Results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090978"/>
                  </a:ext>
                </a:extLst>
              </a:tr>
              <a:tr h="29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627609"/>
                  </a:ext>
                </a:extLst>
              </a:tr>
              <a:tr h="6899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Piloted MTE evaluation with different levels of augmentation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845979"/>
                  </a:ext>
                </a:extLst>
              </a:tr>
              <a:tr h="6899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Autonomous MTEs &amp; comparison to simulated MTEs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677394"/>
                  </a:ext>
                </a:extLst>
              </a:tr>
              <a:tr h="29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147273"/>
                  </a:ext>
                </a:extLst>
              </a:tr>
              <a:tr h="4863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Real-time correction/update of digital twin model in flight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50860"/>
                  </a:ext>
                </a:extLst>
              </a:tr>
              <a:tr h="887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Comparison of dynamic inversion vs. EMF architecture in ability to reduce aircraft dynamics to integrator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574729"/>
                  </a:ext>
                </a:extLst>
              </a:tr>
              <a:tr h="6899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Develop out multicopter MFA capabilities in parallel with 𝜇Vista project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86781"/>
                  </a:ext>
                </a:extLst>
              </a:tr>
              <a:tr h="1084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Potential development of tool that automatically spits out controller knowing key aircraft parameters and performance goals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89772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E94BDE4-DCE8-87AF-C083-2D0FCBDC1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232428"/>
              </p:ext>
            </p:extLst>
          </p:nvPr>
        </p:nvGraphicFramePr>
        <p:xfrm>
          <a:off x="1524410" y="65989"/>
          <a:ext cx="2116549" cy="6660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549">
                  <a:extLst>
                    <a:ext uri="{9D8B030D-6E8A-4147-A177-3AD203B41FA5}">
                      <a16:colId xmlns:a16="http://schemas.microsoft.com/office/drawing/2014/main" val="3573073737"/>
                    </a:ext>
                  </a:extLst>
                </a:gridCol>
              </a:tblGrid>
              <a:tr h="4605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In-Progress &amp; Immediate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611795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How-to guide for deploying STI software on BFS hardware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81097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Documentation to explain data structures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4654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Working paper for flight testing performed so far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381686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strike="sng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Copy off-shelf CLAWs on BFS Hardware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208264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Better understanding of EKF algorithm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90912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Review RMAC validation papers</a:t>
                      </a:r>
                      <a:endParaRPr lang="en-US" sz="1200" b="0" i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838722"/>
                  </a:ext>
                </a:extLst>
              </a:tr>
              <a:tr h="6483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Evaluation of RAMC as a tool, identification of development needs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6678"/>
                  </a:ext>
                </a:extLst>
              </a:tr>
              <a:tr h="6483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Match data structures in simulation to those recorded in flight testing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48320"/>
                  </a:ext>
                </a:extLst>
              </a:tr>
              <a:tr h="10133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Modular simulation model framework and associated scripts. Built to be adaptable to different aircraft configurations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001812"/>
                  </a:ext>
                </a:extLst>
              </a:tr>
              <a:tr h="2778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730795"/>
                  </a:ext>
                </a:extLst>
              </a:tr>
              <a:tr h="2778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16737"/>
                  </a:ext>
                </a:extLst>
              </a:tr>
              <a:tr h="2778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6856"/>
                  </a:ext>
                </a:extLst>
              </a:tr>
              <a:tr h="2778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479931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15D070D-9774-85EF-2504-FCD9F6F41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632087"/>
              </p:ext>
            </p:extLst>
          </p:nvPr>
        </p:nvGraphicFramePr>
        <p:xfrm>
          <a:off x="3640959" y="65989"/>
          <a:ext cx="2116549" cy="6660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549">
                  <a:extLst>
                    <a:ext uri="{9D8B030D-6E8A-4147-A177-3AD203B41FA5}">
                      <a16:colId xmlns:a16="http://schemas.microsoft.com/office/drawing/2014/main" val="2059112327"/>
                    </a:ext>
                  </a:extLst>
                </a:gridCol>
              </a:tblGrid>
              <a:tr h="4579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Short-Term: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Get Hovering with EMF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013"/>
                  </a:ext>
                </a:extLst>
              </a:tr>
              <a:tr h="11392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Ongoing lessons learned &amp; record of progress during development, updating as needed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334639"/>
                  </a:ext>
                </a:extLst>
              </a:tr>
              <a:tr h="632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Documentation explaining updated EKF algorithm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630212"/>
                  </a:ext>
                </a:extLst>
              </a:tr>
              <a:tr h="886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Improve attitude state estimation using accelerometer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785986"/>
                  </a:ext>
                </a:extLst>
              </a:tr>
              <a:tr h="886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Continued updates to RMAC hover model to better match flight data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71166"/>
                  </a:ext>
                </a:extLst>
              </a:tr>
              <a:tr h="632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Update </a:t>
                      </a:r>
                      <a:r>
                        <a:rPr lang="en-US" sz="1200" b="0" i="0" dirty="0" err="1">
                          <a:solidFill>
                            <a:schemeClr val="bg1"/>
                          </a:solidFill>
                        </a:rPr>
                        <a:t>c++</a:t>
                      </a: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 flight code to record controller data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55132"/>
                  </a:ext>
                </a:extLst>
              </a:tr>
              <a:tr h="886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Apply HAWK tool to evaluate frequency domain metrics of simulation data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006209"/>
                  </a:ext>
                </a:extLst>
              </a:tr>
              <a:tr h="3797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85237"/>
                  </a:ext>
                </a:extLst>
              </a:tr>
              <a:tr h="3797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61908"/>
                  </a:ext>
                </a:extLst>
              </a:tr>
              <a:tr h="3797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97259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09492BCE-039E-28F7-2C6F-A65E2FC85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44464"/>
              </p:ext>
            </p:extLst>
          </p:nvPr>
        </p:nvGraphicFramePr>
        <p:xfrm>
          <a:off x="5757508" y="65987"/>
          <a:ext cx="2116549" cy="6660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549">
                  <a:extLst>
                    <a:ext uri="{9D8B030D-6E8A-4147-A177-3AD203B41FA5}">
                      <a16:colId xmlns:a16="http://schemas.microsoft.com/office/drawing/2014/main" val="4153553489"/>
                    </a:ext>
                  </a:extLst>
                </a:gridCol>
              </a:tblGrid>
              <a:tr h="458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Mid-Term: Improved Flight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91618"/>
                  </a:ext>
                </a:extLst>
              </a:tr>
              <a:tr h="458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Maintain good record of progress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19313"/>
                  </a:ext>
                </a:extLst>
              </a:tr>
              <a:tr h="274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Update as needed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676049"/>
                  </a:ext>
                </a:extLst>
              </a:tr>
              <a:tr h="64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Inclusion of forward-flight dynamics to develop </a:t>
                      </a:r>
                      <a:r>
                        <a:rPr lang="en-US" sz="12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qLVP</a:t>
                      </a: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stitched model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21618"/>
                  </a:ext>
                </a:extLst>
              </a:tr>
              <a:tr h="5354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Comparison to ART s-function or other models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256207"/>
                  </a:ext>
                </a:extLst>
              </a:tr>
              <a:tr h="824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Develop HIL simulator, potentially using interface of BFS hardware (running CLAWs) with off-board model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132998"/>
                  </a:ext>
                </a:extLst>
              </a:tr>
              <a:tr h="99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Maintain bus structures, simulation, and deployable models such that they can be adapted to changing needs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322899"/>
                  </a:ext>
                </a:extLst>
              </a:tr>
              <a:tr h="64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Optimization of hover CLAW parameters (SOAR or CONDUIT)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974246"/>
                  </a:ext>
                </a:extLst>
              </a:tr>
              <a:tr h="458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Build out layers of control augmentation in simulation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310347"/>
                  </a:ext>
                </a:extLst>
              </a:tr>
              <a:tr h="45810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Forward flight CLAWs and testing in simulation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84739"/>
                  </a:ext>
                </a:extLst>
              </a:tr>
              <a:tr h="64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Develop capability to run digital twin during flight and record relevant data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568829"/>
                  </a:ext>
                </a:extLst>
              </a:tr>
              <a:tr h="274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655934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D9935EA-F172-2893-E3C7-5AAEEAC6B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362085"/>
              </p:ext>
            </p:extLst>
          </p:nvPr>
        </p:nvGraphicFramePr>
        <p:xfrm>
          <a:off x="7874057" y="65985"/>
          <a:ext cx="2116549" cy="6660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549">
                  <a:extLst>
                    <a:ext uri="{9D8B030D-6E8A-4147-A177-3AD203B41FA5}">
                      <a16:colId xmlns:a16="http://schemas.microsoft.com/office/drawing/2014/main" val="332429984"/>
                    </a:ext>
                  </a:extLst>
                </a:gridCol>
              </a:tblGrid>
              <a:tr h="4580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Long-Term: Further Flight Testing and Development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050518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endParaRPr sz="12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02864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93546"/>
                  </a:ext>
                </a:extLst>
              </a:tr>
              <a:tr h="5823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Develop and Maintain CAD Model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886287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endParaRPr sz="12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673544"/>
                  </a:ext>
                </a:extLst>
              </a:tr>
              <a:tr h="81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Optimization of forward flight CLAW parameters (SOAR or CONDUIT)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581176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MTE Simulations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391607"/>
                  </a:ext>
                </a:extLst>
              </a:tr>
              <a:tr h="81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</a:rPr>
                        <a:t>Testing of additional control modes in flight, up to waypoint following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906892"/>
                  </a:ext>
                </a:extLst>
              </a:tr>
              <a:tr h="728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113956"/>
                  </a:ext>
                </a:extLst>
              </a:tr>
              <a:tr h="81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Variation of aircraft model parameters and analysis of effects on FQ/HQ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450525"/>
                  </a:ext>
                </a:extLst>
              </a:tr>
              <a:tr h="10482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Identification of key parameters that influence aircraft dynamics and effectiveness of CLAWs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367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800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2F38"/>
      </a:dk1>
      <a:lt1>
        <a:srgbClr val="FFFFFF"/>
      </a:lt1>
      <a:dk2>
        <a:srgbClr val="004760"/>
      </a:dk2>
      <a:lt2>
        <a:srgbClr val="F1F1F1"/>
      </a:lt2>
      <a:accent1>
        <a:srgbClr val="0097E3"/>
      </a:accent1>
      <a:accent2>
        <a:srgbClr val="96262B"/>
      </a:accent2>
      <a:accent3>
        <a:srgbClr val="6452A4"/>
      </a:accent3>
      <a:accent4>
        <a:srgbClr val="F29E42"/>
      </a:accent4>
      <a:accent5>
        <a:srgbClr val="F1E03D"/>
      </a:accent5>
      <a:accent6>
        <a:srgbClr val="418C1C"/>
      </a:accent6>
      <a:hlink>
        <a:srgbClr val="0097E3"/>
      </a:hlink>
      <a:folHlink>
        <a:srgbClr val="002F3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req Response and MTE Sim with Barron Tiltrotor Model" id="{4220E188-C915-4369-9ACD-4007BA84D2B6}" vid="{911C54EC-313E-497A-A64B-6A10D876F7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60cda9-1843-422a-878f-e1e9673dc940" xsi:nil="true"/>
    <lcf76f155ced4ddcb4097134ff3c332f xmlns="58f7c7da-fb43-44a3-9158-defb3146a74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C7C5B0F05FF4E8FC161E135875E2A" ma:contentTypeVersion="18" ma:contentTypeDescription="Create a new document." ma:contentTypeScope="" ma:versionID="0eb0d3a0e7d1e1b3e2fab424f18e401e">
  <xsd:schema xmlns:xsd="http://www.w3.org/2001/XMLSchema" xmlns:xs="http://www.w3.org/2001/XMLSchema" xmlns:p="http://schemas.microsoft.com/office/2006/metadata/properties" xmlns:ns2="5f60cda9-1843-422a-878f-e1e9673dc940" xmlns:ns3="58f7c7da-fb43-44a3-9158-defb3146a74b" targetNamespace="http://schemas.microsoft.com/office/2006/metadata/properties" ma:root="true" ma:fieldsID="a04d809cc6eba5fbc8bcb62694a0c79f" ns2:_="" ns3:_="">
    <xsd:import namespace="5f60cda9-1843-422a-878f-e1e9673dc940"/>
    <xsd:import namespace="58f7c7da-fb43-44a3-9158-defb3146a7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SearchProperties" minOccurs="0"/>
                <xsd:element ref="ns3:MediaServiceObjectDetectorVersion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60cda9-1843-422a-878f-e1e9673dc9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e056bc6-21a7-472a-8ff0-671bd3db5198}" ma:internalName="TaxCatchAll" ma:showField="CatchAllData" ma:web="5f60cda9-1843-422a-878f-e1e9673dc9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7c7da-fb43-44a3-9158-defb3146a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869873b-0510-4574-9819-0e87e1d231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4C7BA7-1E51-43A4-A879-E6496B5247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BAC7A5-2342-4344-9BE1-E90F6E5B99AC}">
  <ds:schemaRefs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5f60cda9-1843-422a-878f-e1e9673dc940"/>
    <ds:schemaRef ds:uri="http://www.w3.org/XML/1998/namespace"/>
    <ds:schemaRef ds:uri="58f7c7da-fb43-44a3-9158-defb3146a74b"/>
  </ds:schemaRefs>
</ds:datastoreItem>
</file>

<file path=customXml/itemProps3.xml><?xml version="1.0" encoding="utf-8"?>
<ds:datastoreItem xmlns:ds="http://schemas.openxmlformats.org/officeDocument/2006/customXml" ds:itemID="{00E68385-C26E-4820-AD8C-620748DE37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60cda9-1843-422a-878f-e1e9673dc940"/>
    <ds:schemaRef ds:uri="58f7c7da-fb43-44a3-9158-defb3146a7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15464</TotalTime>
  <Words>416</Words>
  <Application>Microsoft Office PowerPoint</Application>
  <PresentationFormat>Widescreen</PresentationFormat>
  <Paragraphs>61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Barlow</vt:lpstr>
      <vt:lpstr>Teko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 Walter, Ph.D.</dc:creator>
  <cp:lastModifiedBy>Ariel Walter, Ph.D.</cp:lastModifiedBy>
  <cp:revision>12</cp:revision>
  <dcterms:created xsi:type="dcterms:W3CDTF">2025-09-16T18:49:04Z</dcterms:created>
  <dcterms:modified xsi:type="dcterms:W3CDTF">2026-03-06T23:58:12Z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0x010100E56C7C5B0F05FF4E8FC161E135875E2A</vt:lpwstr>
  </property>
</Properties>
</file>